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wheelsUp  開発全体像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CB0F6"/>
                </a:solidFill>
                <a:latin typeface="Meiryo"/>
              </a:rPr>
              <a:t>営業面談フィードバック &amp; RA開拓支援システム — 現状と運用引き継ぎ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運用会社向け 引き継ぎ資料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5B1"/>
                </a:solidFill>
                <a:latin typeface="Meiryo"/>
              </a:rPr>
              <a:t>2026.07  /  最新: トーク傾向分析へピボット中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システムの全体像（1枚まとめ）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"/>
            <a:ext cx="11064240" cy="14630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48640"/>
            <a:ext cx="128016" cy="1463040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694944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2F36"/>
                </a:solidFill>
                <a:latin typeface="Meiryo"/>
              </a:rPr>
              <a:t>何のシステムか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152144"/>
            <a:ext cx="1060704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営業(キャリアコンサル)の面談議事録を分析し、育成に使うWebアプリ。2機能=①面談FB ②RA開拓(候補者/企業の発掘支援)。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11064240" cy="14630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28016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95144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2F36"/>
                </a:solidFill>
                <a:latin typeface="Meiryo"/>
              </a:rPr>
              <a:t>現在の方針（重要）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52344"/>
            <a:ext cx="1060704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AI自動採点は実運用が難しく、『話し方の癖・傾向を機械的に可視化』する方向へピボット中(2026/7 決定)。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11064240" cy="14630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49039"/>
            <a:ext cx="128016" cy="1463040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95344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2F36"/>
                </a:solidFill>
                <a:latin typeface="Meiryo"/>
              </a:rPr>
              <a:t>技術構成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52544"/>
            <a:ext cx="1060704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React+Vite(フロント) / Vercel Serverless(API) / Supabase(DB) / Google Gemini(AI)。外部連携=Drive・Lark・Pipedrive。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64240" cy="14630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349240"/>
            <a:ext cx="128016" cy="1463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95544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2F36"/>
                </a:solidFill>
                <a:latin typeface="Meiryo"/>
              </a:rPr>
              <a:t>運用状態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52744"/>
            <a:ext cx="1060704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eiryo"/>
              </a:rPr>
              <a:t>本番稼働中(Vercel)。議事録はGoogle Drive経由で自動取込→分析→表示。デプロイはCLIから手動。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SYSTEM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2つの機能で構成される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4754880"/>
          </a:xfrm>
          <a:prstGeom prst="roundRect">
            <a:avLst/>
          </a:prstGeom>
          <a:solidFill>
            <a:srgbClr val="EA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00" cy="640080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① 面談FB（メインの育成機能）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5000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249424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議事録の取込(Drive自動連携 / 手動貼付)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0720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706624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話者分離(「あなた」=担当者本人)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6440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163824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トーク傾向分析 </a:t>
            </a:r>
            <a:r>
              <a:rPr sz="1200" b="0">
                <a:solidFill>
                  <a:srgbClr val="6B7280"/>
                </a:solidFill>
                <a:latin typeface="Meiryo"/>
              </a:rPr>
              <a:t>発話比率/質問数/口癖/速度(機械計算)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2160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3621024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候補者情報の整形(初回診断5項目)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17880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4078224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AI 5軸採点(縮小方針・任意)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3600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4535424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フィードバック/校正/手動タグ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9320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4992624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学習ライブラリ(型+実例トーク)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5040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" y="5449824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CSVエクスポート(振り返り用)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371600"/>
            <a:ext cx="5303520" cy="4754880"/>
          </a:xfrm>
          <a:prstGeom prst="round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60" y="1371600"/>
            <a:ext cx="530352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481328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② RA開拓（候補者/企業の発掘）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235000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2249424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企業/候補者データの投入・管理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280720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2" y="2706624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求人ページのクロール(自動収集)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326440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85432" y="3163824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候補者×求人のマッチング採点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372160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5432" y="3621024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新規企業のAI発掘(Gemini)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417880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85432" y="4078224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URL自動補完・再検証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463600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85432" y="4535424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全自動収集モード(定期ループ)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29400" y="509320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85432" y="4992624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Pipedrive連携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技術スタックとアーキテクチャ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128016" cy="914400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3774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2F36"/>
                </a:solidFill>
                <a:latin typeface="Meiryo"/>
              </a:rPr>
              <a:t>フロントエンド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35607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React + Vite + TypeScript / TailwindCSS / React Query / React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0136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ブラウザで動くSPA。面談FBとRA開拓を1画面で切替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95144"/>
            <a:ext cx="110642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95144"/>
            <a:ext cx="128016" cy="914400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86584"/>
            <a:ext cx="23774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2F36"/>
                </a:solidFill>
                <a:latin typeface="Meiryo"/>
              </a:rPr>
              <a:t>APIサーバ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04872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Vercel Serverless Functions (Node.js/TypeScript)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70632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/api/meetings, /api/ra ほか。1関数=最大60秒の制約あり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64408"/>
            <a:ext cx="110642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64408"/>
            <a:ext cx="12801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55848"/>
            <a:ext cx="23774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2F36"/>
                </a:solidFill>
                <a:latin typeface="Meiryo"/>
              </a:rPr>
              <a:t>データベース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374136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Supabase (PostgreSQL)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39896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面談議事録・スコア・校正・企業/候補者データを保存。APIはservice_roleでアクセス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33672"/>
            <a:ext cx="110642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33672"/>
            <a:ext cx="128016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25112"/>
            <a:ext cx="23774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2F36"/>
                </a:solidFill>
                <a:latin typeface="Meiryo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34340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Google Gemini (2.5-flash / 2.0-flash / flash-lite の多段フォールバック)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0916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整形・採点・発掘に利用。OpenAIも接続可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02936"/>
            <a:ext cx="110642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202936"/>
            <a:ext cx="128016" cy="914400"/>
          </a:xfrm>
          <a:prstGeom prst="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94375"/>
            <a:ext cx="237744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2F36"/>
                </a:solidFill>
                <a:latin typeface="Meiryo"/>
              </a:rPr>
              <a:t>外部連携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12664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Google Drive(SA) / Mimo(Apps Script) / Lark・Slack(通知) / Pipedrive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678423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議事録の自動取込、採点通知、CRM連携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運用フロー：議事録が入ってから表示まで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057400" cy="16459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057400" cy="109728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783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B2F36"/>
                </a:solidFill>
                <a:latin typeface="Meiryo"/>
              </a:rPr>
              <a:t>① 面談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1783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Google Meetで面談
→自動文字起こし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514600"/>
            <a:ext cx="320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6B7280"/>
                </a:solidFill>
                <a:latin typeface="Meiryo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103120"/>
            <a:ext cx="2057400" cy="16459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103120"/>
            <a:ext cx="205740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2331720"/>
            <a:ext cx="1783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B2F36"/>
                </a:solidFill>
                <a:latin typeface="Meiryo"/>
              </a:rPr>
              <a:t>② 保存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2788920"/>
            <a:ext cx="1783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Mimo拡張がDriveに
議事録を格納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514600"/>
            <a:ext cx="320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6B7280"/>
                </a:solidFill>
                <a:latin typeface="Meiry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103120"/>
            <a:ext cx="2057400" cy="16459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2103120"/>
            <a:ext cx="2057400" cy="109728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331720"/>
            <a:ext cx="1783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B2F36"/>
                </a:solidFill>
                <a:latin typeface="Meiryo"/>
              </a:rPr>
              <a:t>③ 取込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788920"/>
            <a:ext cx="1783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APIがDriveから取込
(Webhook/定期)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2514600"/>
            <a:ext cx="320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6B7280"/>
                </a:solidFill>
                <a:latin typeface="Meiryo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2057400" cy="16459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20" y="2103120"/>
            <a:ext cx="205740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2331720"/>
            <a:ext cx="1783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B2F36"/>
                </a:solidFill>
                <a:latin typeface="Meiryo"/>
              </a:rPr>
              <a:t>④ 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788920"/>
            <a:ext cx="1783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話者分離+トーク傾向分析
(+任意でAI整形/採点)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2514600"/>
            <a:ext cx="320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6B7280"/>
                </a:solidFill>
                <a:latin typeface="Meiryo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2103120"/>
            <a:ext cx="2057400" cy="16459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46920" y="2103120"/>
            <a:ext cx="2057400" cy="109728"/>
          </a:xfrm>
          <a:prstGeom prst="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331720"/>
            <a:ext cx="1783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B2F36"/>
                </a:solidFill>
                <a:latin typeface="Meiryo"/>
              </a:rPr>
              <a:t>⑤ 表示・通知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788920"/>
            <a:ext cx="1783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画面に傾向表示
初回はLarkへ1通知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06240"/>
            <a:ext cx="11064240" cy="1737360"/>
          </a:xfrm>
          <a:prstGeom prst="roundRect">
            <a:avLst/>
          </a:prstGeom>
          <a:solidFill>
            <a:srgbClr val="EA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B0F6"/>
                </a:solidFill>
                <a:latin typeface="Meiryo"/>
              </a:rPr>
              <a:t>運用ポイント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86460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4764024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自動化済み：</a:t>
            </a:r>
            <a:r>
              <a:rPr sz="1200" b="0">
                <a:solidFill>
                  <a:srgbClr val="6B7280"/>
                </a:solidFill>
                <a:latin typeface="Meiryo"/>
              </a:rPr>
              <a:t>Drive追加→自動で取込・分析・(初回のみ)Lark通知。担当者は基本ボタン操作不要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248656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0432" y="5148072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手動操作：</a:t>
            </a:r>
            <a:r>
              <a:rPr sz="1200" b="0">
                <a:solidFill>
                  <a:srgbClr val="6B7280"/>
                </a:solidFill>
                <a:latin typeface="Meiryo"/>
              </a:rPr>
              <a:t>再分析・整形・採点・フィードバック入力は画面のボタンから任意で実行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5632704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0432" y="5532120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通知ルール：</a:t>
            </a:r>
            <a:r>
              <a:rPr sz="1200" b="0">
                <a:solidFill>
                  <a:srgbClr val="6B7280"/>
                </a:solidFill>
                <a:latin typeface="Meiryo"/>
              </a:rPr>
              <a:t>初回採点/分析のみLark通知。再実行では通知しない(連打防止)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PIVOT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面談FBの現状：採点→トーク傾向分析へ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2194560"/>
          </a:xfrm>
          <a:prstGeom prst="round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00" cy="548640"/>
          </a:xfrm>
          <a:prstGeom prst="round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eiryo"/>
              </a:rPr>
              <a:t>課題だった旧方針：AI自動採点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12848"/>
            <a:ext cx="109728" cy="109728"/>
          </a:xfrm>
          <a:prstGeom prst="round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112264"/>
            <a:ext cx="4572000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面談ごとに深い文脈理解をAIに要求→不安定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33472"/>
            <a:ext cx="109728" cy="109728"/>
          </a:xfrm>
          <a:prstGeom prst="round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2532888"/>
            <a:ext cx="4572000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点数の妥当性が現場感覚と合わない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54096"/>
            <a:ext cx="109728" cy="109728"/>
          </a:xfrm>
          <a:prstGeom prst="round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2953512"/>
            <a:ext cx="4572000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処理が重くタイムアウトしやすい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5303520" cy="2194560"/>
          </a:xfrm>
          <a:prstGeom prst="round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530352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6304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eiryo"/>
              </a:rPr>
              <a:t>新方針：話し方の傾向を可視化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21284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2112264"/>
            <a:ext cx="4389120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良し悪しを判定せず『傾向』を出す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633472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2532888"/>
            <a:ext cx="4389120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機械計算なのでAI不要・一瞬・安定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54096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5432" y="2953512"/>
            <a:ext cx="4389120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発話比率/質問数/口癖/速度/頻出ワード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49039"/>
            <a:ext cx="11064240" cy="21488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F36"/>
                </a:solidFill>
                <a:latin typeface="Meiryo"/>
              </a:rPr>
              <a:t>トーク傾向分析で出す指標（AI不要・実装済み）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389120"/>
            <a:ext cx="2560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507992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発話比率(担当:相手)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4389120"/>
            <a:ext cx="2560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507992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質問数・質問率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389120"/>
            <a:ext cx="2560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507992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平均発話文字数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389120"/>
            <a:ext cx="2560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4507992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最長独話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047488"/>
            <a:ext cx="2560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166359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発話速度(字/分)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20440" y="5047488"/>
            <a:ext cx="2560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40" y="5166359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口癖トップ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47488"/>
            <a:ext cx="2560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5166359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頻出ワード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400" y="5047488"/>
            <a:ext cx="25603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15400" y="5166359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B2F36"/>
                </a:solidFill>
                <a:latin typeface="Meiryo"/>
              </a:rPr>
              <a:t>総ターン数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主要APIエンドポイント（/api/meetings ほか）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97480" cy="4389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502920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取込・連携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・drive-import / drive-webhook (Drive取込)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・push-transcript (Apps Scriptからpush)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・transcribe (音声→文字起こし)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697480" cy="4389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7560" y="1371600"/>
            <a:ext cx="2697480" cy="502920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46304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分析・採点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05740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・:id/diagnose (5項目整形)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92608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・:id/score (AI採点)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9476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・bulk-rescore / bulk-diagnose (一括)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1371600"/>
            <a:ext cx="2697480" cy="4389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79" y="1371600"/>
            <a:ext cx="269748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46304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学習・校正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05740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・:id/calibrate (良い/悪いマーク)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92608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・:id/manual-observation (手動タグ)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379476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・extract-style / training-health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1371600"/>
            <a:ext cx="2697480" cy="4389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15400" y="1371600"/>
            <a:ext cx="269748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46304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その他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05740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・:id/outcome (成果記録)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92608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・:id/leader-feedback (コメント)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794760"/>
            <a:ext cx="23774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B2F36"/>
                </a:solidFill>
                <a:latin typeface="Meiryo"/>
              </a:rPr>
              <a:t>・/api/ra (RA開拓一式)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Meiryo"/>
              </a:rPr>
              <a:t>※ /api/meetings は path で分岐する単一関数。合計25以上のサブ機能を集約。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環境変数・外部サービス（運用に必要）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28016" cy="749808"/>
          </a:xfrm>
          <a:prstGeom prst="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44752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必須(コア)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426464"/>
            <a:ext cx="8503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B2F36"/>
                </a:solidFill>
                <a:latin typeface="Meiryo"/>
              </a:rPr>
              <a:t>SUPABASE_URL / SUPABASE_SERVICE_ROLE_KEY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73936"/>
            <a:ext cx="8503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DB接続。これが無いと全機能停止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76272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76272"/>
            <a:ext cx="128016" cy="7498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49424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31136"/>
            <a:ext cx="8503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B2F36"/>
                </a:solidFill>
                <a:latin typeface="Meiryo"/>
              </a:rPr>
              <a:t>GEMINI_API_KEY (GEMINI_MODEL / GEMINI_SCORING_MODEL)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578608"/>
            <a:ext cx="8503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整形・採点・発掘。無料枠のRPM制限に注意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80944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80944"/>
            <a:ext cx="128016" cy="749808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54096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Drive連携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035808"/>
            <a:ext cx="8503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B2F36"/>
                </a:solidFill>
                <a:latin typeface="Meiryo"/>
              </a:rPr>
              <a:t>GOOGLE_SA_EMAIL / GOOGLE_SA_PRIVATE_KEY / MIMO_DRIVE_FOLDER_ID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383279"/>
            <a:ext cx="8503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議事録の自動取込(サービスアカウント)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85615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785615"/>
            <a:ext cx="128016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58768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通知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840479"/>
            <a:ext cx="8503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B2F36"/>
                </a:solidFill>
                <a:latin typeface="Meiryo"/>
              </a:rPr>
              <a:t>LARK_WEBHOOK_URL / LARK_USER_IDS / SLACK_WEBHOOK_URL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187952"/>
            <a:ext cx="8503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採点/分析完了の通知。未設定なら通知OFF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90288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590288"/>
            <a:ext cx="128016" cy="749808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63440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保護・その他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645151"/>
            <a:ext cx="8503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B2F36"/>
                </a:solidFill>
                <a:latin typeface="Meiryo"/>
              </a:rPr>
              <a:t>CRON_SECRET / DRIVE_WEBHOOK_TOKEN / APP_BASE_URL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992624"/>
            <a:ext cx="8503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Webhook認証・URL生成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94959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394959"/>
            <a:ext cx="128016" cy="74980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468112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B2F36"/>
                </a:solidFill>
                <a:latin typeface="Meiryo"/>
              </a:rPr>
              <a:t>RA開拓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449823"/>
            <a:ext cx="8503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B2F36"/>
                </a:solidFill>
                <a:latin typeface="Meiryo"/>
              </a:rPr>
              <a:t>GOOGLE_SEARCH_API_KEY / GOOGLE_SEARCH_CX / JINA_API_KEY / PIPEDRIVE_API_TOKEN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797296"/>
            <a:ext cx="85039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企業発掘・クロール・CRM連携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Meiryo"/>
              </a:rPr>
              <a:t>※ 値は Vercel の Environment Variables で管理。本資料にはキー名のみ記載(秘匿値は非掲載)。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デプロイ・運用手順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2286000"/>
          </a:xfrm>
          <a:prstGeom prst="roundRect">
            <a:avLst/>
          </a:prstGeom>
          <a:solidFill>
            <a:srgbClr val="1E2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B0F6"/>
                </a:solidFill>
                <a:latin typeface="Meiryo"/>
              </a:rPr>
              <a:t>デプロイ（本番反映）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060704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8A94A0"/>
                </a:solidFill>
                <a:latin typeface="Meiryo"/>
              </a:rPr>
              <a:t># リポジトリのルートで実行（wheelup-vercel の中では実行しない）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cd ~/wheelsUp_Sales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eiryo"/>
              </a:rPr>
              <a:t>git pull origin &lt;branch&gt;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B8C2CC"/>
                </a:solidFill>
                <a:latin typeface="Meiryo"/>
              </a:rPr>
              <a:t>cd wheelup-vercel &amp;&amp; npm install   # 依存更新時のみ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Meiryo"/>
              </a:rPr>
              <a:t>cd ~/wheelsUp_Sales &amp;&amp; vercel --prod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394960" cy="21488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59352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0B981"/>
                </a:solidFill>
                <a:latin typeface="Meiryo"/>
              </a:rPr>
              <a:t>定常運用（自動）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49884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4398264"/>
            <a:ext cx="4572000" cy="40233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議事録はDrive追加で自動取込・分析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0118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4800600"/>
            <a:ext cx="4572000" cy="40233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初回のみLark通知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03520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5202936"/>
            <a:ext cx="4572000" cy="40233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担当者は画面で傾向/FBを確認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840480"/>
            <a:ext cx="5486400" cy="21488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59352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9600"/>
                </a:solidFill>
                <a:latin typeface="Meiryo"/>
              </a:rPr>
              <a:t>メンテ観点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498848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4398264"/>
            <a:ext cx="4663440" cy="40233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Gemini APIキーの残枠・課金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901184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4800600"/>
            <a:ext cx="4663440" cy="40233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Driveサービスアカウントの共有権限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5303520"/>
            <a:ext cx="109728" cy="109728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5202936"/>
            <a:ext cx="4663440" cy="40233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B2F36"/>
                </a:solidFill>
                <a:latin typeface="Meiryo"/>
              </a:rPr>
              <a:t>一括処理は60秒制限を超えぬようバッチ実行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既知の制約・注意点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9144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28016" cy="914400"/>
          </a:xfrm>
          <a:prstGeom prst="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2F36"/>
                </a:solidFill>
                <a:latin typeface="Meiryo"/>
              </a:rPr>
              <a:t>Vercelの関数は60秒上限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大量の一括処理(整形/採点)はタイムアウトする。→3件/1件ずつのバッチ+フロントでループする設計に。リアルタイム音声等は別基盤が必要。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40864"/>
            <a:ext cx="11064240" cy="9144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40864"/>
            <a:ext cx="128016" cy="914400"/>
          </a:xfrm>
          <a:prstGeom prst="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5059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2F36"/>
                </a:solidFill>
                <a:latin typeface="Meiryo"/>
              </a:rPr>
              <a:t>AI採点の精度に限界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43784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文脈依存の点数化は不安定。→機械計算のトーク傾向分析を主軸に据えるピボットを実施済み。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10128"/>
            <a:ext cx="11064240" cy="9144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10128"/>
            <a:ext cx="128016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1985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2F36"/>
                </a:solidFill>
                <a:latin typeface="Meiryo"/>
              </a:rPr>
              <a:t>Gemini無料枠のRPM制限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13048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連続呼び出しは待機を挟む。件数が多い処理は時間がかかる。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79392"/>
            <a:ext cx="11064240" cy="9144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79392"/>
            <a:ext cx="128016" cy="914400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2F36"/>
                </a:solidFill>
                <a:latin typeface="Meiryo"/>
              </a:rPr>
              <a:t>デプロイはCLI手動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82312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VercelのRoot Directoryが wheelup-vercel のため、必ずリポジトリのルートから vercel --prod を実行する。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48656"/>
            <a:ext cx="11064240" cy="9144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248656"/>
            <a:ext cx="12801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358384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B2F36"/>
                </a:solidFill>
                <a:latin typeface="Meiryo"/>
              </a:rPr>
              <a:t>機能過多になりやすい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51576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eiryo"/>
              </a:rPr>
              <a:t>採点系UIが多層化していた。運用会社向けにはトーク傾向+CSV+FBのシンプル構成を推奨。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CB0F6"/>
                </a:solidFill>
                <a:latin typeface="Meiryo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Meiryo"/>
              </a:rPr>
              <a:t>これまでの経緯と今後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56070"/>
                </a:solidFill>
                <a:latin typeface="Meiry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Meiryo"/>
              </a:rPr>
              <a:t>開発の流れ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554480" cy="640080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eiryo"/>
              </a:rPr>
              <a:t>〜2026/6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737360"/>
            <a:ext cx="9326880" cy="6400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883664"/>
            <a:ext cx="89611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5軸AI採点+学習データ比較を構築。精度・UIで試行錯誤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87168"/>
            <a:ext cx="155448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eiryo"/>
              </a:rPr>
              <a:t>2026/6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2487168"/>
            <a:ext cx="9326880" cy="6400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633472"/>
            <a:ext cx="89611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話者分離・整形(01フォーマット)・小林データ比較を実装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36975"/>
            <a:ext cx="1554480" cy="640080"/>
          </a:xfrm>
          <a:prstGeom prst="roundRect">
            <a:avLst/>
          </a:prstGeom>
          <a:solidFill>
            <a:srgbClr val="FF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83279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eiryo"/>
              </a:rPr>
              <a:t>2026/7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3236975"/>
            <a:ext cx="9326880" cy="6400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383279"/>
            <a:ext cx="89611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AI採点の限界を判断→トーク傾向分析へピボット決定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86783"/>
            <a:ext cx="1554480" cy="640080"/>
          </a:xfrm>
          <a:prstGeom prst="roundRect">
            <a:avLst/>
          </a:prstGeom>
          <a:solidFill>
            <a:srgbClr val="FF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33087"/>
            <a:ext cx="1554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eiryo"/>
              </a:rPr>
              <a:t>現在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986783"/>
            <a:ext cx="9326880" cy="6400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133087"/>
            <a:ext cx="896112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Meiryo"/>
              </a:rPr>
              <a:t>トーク傾向分析+CSV出力を実装。UIフラット化を予定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37760"/>
            <a:ext cx="11064240" cy="1371600"/>
          </a:xfrm>
          <a:prstGeom prst="roundRect">
            <a:avLst/>
          </a:prstGeom>
          <a:solidFill>
            <a:srgbClr val="EA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B0F6"/>
                </a:solidFill>
                <a:latin typeface="Meiryo"/>
              </a:rPr>
              <a:t>今後の予定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596128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5495544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UIフラット化：</a:t>
            </a:r>
            <a:r>
              <a:rPr sz="1200" b="0">
                <a:solidFill>
                  <a:srgbClr val="6B7280"/>
                </a:solidFill>
                <a:latin typeface="Meiryo"/>
              </a:rPr>
              <a:t>誰でも全員の面談を閲覧・FB入力できるタブ構造へ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980176"/>
            <a:ext cx="109728" cy="109728"/>
          </a:xfrm>
          <a:prstGeom prst="roundRect">
            <a:avLst/>
          </a:prstGeom>
          <a:solidFill>
            <a:srgbClr val="1CB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5879592"/>
            <a:ext cx="1014984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B2F36"/>
                </a:solidFill>
                <a:latin typeface="Meiryo"/>
              </a:rPr>
              <a:t>運用移管：</a:t>
            </a:r>
            <a:r>
              <a:rPr sz="1200" b="0">
                <a:solidFill>
                  <a:srgbClr val="6B7280"/>
                </a:solidFill>
                <a:latin typeface="Meiryo"/>
              </a:rPr>
              <a:t>運用会社が自分たちで更新継続できるパッケージ化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