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面談フィードバックツール　刷新のご報告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CB0F6"/>
                </a:solidFill>
                <a:latin typeface="Meiryo"/>
              </a:rPr>
              <a:t>「AIが点数をつける」から「話し方の傾向が見える」へ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UI/UX の変更点と、期待できる効果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5B1"/>
                </a:solidFill>
                <a:latin typeface="Meiryo"/>
              </a:rPr>
              <a:t>2026.07  wheelsUp 面談FB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なぜ方針を変えたのか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265176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56692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これまでの課題（AI自動採点）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12848"/>
            <a:ext cx="100584" cy="10058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112264"/>
            <a:ext cx="46817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面談ごとの深い文脈理解をAIに求めていた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70048"/>
            <a:ext cx="100584" cy="10058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2569464"/>
            <a:ext cx="46817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点数の妥当性が現場感覚と噛み合わない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127248"/>
            <a:ext cx="100584" cy="10058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3026664"/>
            <a:ext cx="46817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処理が重く、途中で止まることがあった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584448"/>
            <a:ext cx="100584" cy="10058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3483864"/>
            <a:ext cx="46817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機能が多層化し「どこを見ればよいか」が不明瞭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5303520" cy="265176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371600"/>
            <a:ext cx="5303520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463040"/>
            <a:ext cx="493776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新しい方針（トーク傾向の可視化）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212848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7144" y="2112264"/>
            <a:ext cx="449884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良し悪しを判定せず「傾向」を示す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670048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2569464"/>
            <a:ext cx="449884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計算だけで出すのでAI不要・待ち時間ほぼゼロ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127248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7144" y="3026664"/>
            <a:ext cx="449884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数字の根拠が明確（誰が見ても同じ結果）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584448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67144" y="3483864"/>
            <a:ext cx="449884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画面を絞り、見るべき場所を1つに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51960"/>
            <a:ext cx="11064240" cy="17373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eiryo"/>
              </a:rPr>
              <a:t>考え方の転換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46320"/>
            <a:ext cx="106070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AIに「この面談は何点か」を判断させるのは、現時点では精度が安定しません。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そこで「誰がどれだけ話し、どんな質問をしたか」という</a:t>
            </a:r>
            <a:r>
              <a:rPr sz="1250" b="1">
                <a:solidFill>
                  <a:srgbClr val="10B981"/>
                </a:solidFill>
                <a:latin typeface="Meiryo"/>
              </a:rPr>
              <a:t>客観的な事実の可視化</a:t>
            </a:r>
            <a:r>
              <a:rPr sz="1250" b="0">
                <a:solidFill>
                  <a:srgbClr val="2B2F36"/>
                </a:solidFill>
                <a:latin typeface="Meiryo"/>
              </a:rPr>
              <a:t>に絞りました。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評価は人（小林さん・西村さん）が行い、AIは判断材料の提示に徹する——という役割分担です。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UI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画面はこう変わりました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86400" cy="484632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502920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08176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BEFORE</a:t>
            </a:r>
            <a:r>
              <a:rPr sz="1100" b="0">
                <a:solidFill>
                  <a:srgbClr val="FFFFFF"/>
                </a:solidFill>
                <a:latin typeface="Meiryo"/>
              </a:rPr>
              <a:t>   階級型・機能過多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✕ リーダー画面 / メンバー画面が別々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76856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役割ごとに別の画面。行き来ができない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07208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✕ 自分の面談しか見られない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18103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他メンバーの面談は非表示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✕ 1面談に12種類以上の情報が縦積み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59352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5軸スコア・評価理由・軸別FB・タイムライン…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9704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✕ フィードバックはリーダーのみ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現場同士の指摘が入らない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3095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✕ 採点待ちが発生（数十秒〜）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41848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AI処理が終わるまで何も見えない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25880"/>
            <a:ext cx="5303520" cy="4846320"/>
          </a:xfrm>
          <a:prstGeom prst="roundRect">
            <a:avLst/>
          </a:prstGeom>
          <a:solidFill>
            <a:srgbClr val="F0FDF9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325880"/>
            <a:ext cx="53035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408176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AFTER</a:t>
            </a:r>
            <a:r>
              <a:rPr sz="1100" b="0">
                <a:solidFill>
                  <a:srgbClr val="FFFFFF"/>
                </a:solidFill>
                <a:latin typeface="Meiryo"/>
              </a:rPr>
              <a:t>   フラット・要点のみ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○ 全員が同じ1画面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76856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役割による画面の違いをなくした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807208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○ メンバータブで誰の面談でも閲覧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118103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タブを押すだけで切り替わる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648456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○ 見るのは「傾向」と「コメント」の2つ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59352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不要な表示を撤去し縦の情報量を削減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489704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○ 誰でもフィードバックを書ける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00600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定型文ボタンでワンタップ入力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330952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○ 開いた瞬間に結果が出る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641848"/>
            <a:ext cx="4526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計算のみなので待ち時間なし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実際の画面構成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メンバータブを選ぶ → サマリーが出る → 個別の面談を開く、の3ステップだけです。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64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01368"/>
            <a:ext cx="1371600" cy="347472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eiryo"/>
              </a:rPr>
              <a:t>小林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180136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1847088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西村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9896" y="180136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1847088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辻内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180136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847088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安藤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1801368"/>
            <a:ext cx="1371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1847088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iryo"/>
              </a:rPr>
              <a:t>村上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847088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5B1"/>
                </a:solidFill>
                <a:latin typeface="Meiryo"/>
              </a:rPr>
              <a:t>← タブで担当者を切替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423160"/>
            <a:ext cx="110642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42032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Meiryo"/>
              </a:rPr>
              <a:t>① トーク傾向サマリー（その人の全面談を集計）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9260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35808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eiryo"/>
              </a:rPr>
              <a:t>会話スタイル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10128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Meiryo"/>
              </a:rPr>
              <a:t>対話・深掘り型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29260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035808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eiryo"/>
              </a:rPr>
              <a:t>平均発話比率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310128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B0F6"/>
                </a:solidFill>
                <a:latin typeface="Meiryo"/>
              </a:rPr>
              <a:t>52 %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79" y="29260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9" y="3035808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eiryo"/>
              </a:rPr>
              <a:t>平均質問数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9" y="3310128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Meiryo"/>
              </a:rPr>
              <a:t>8.3 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29260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035808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eiryo"/>
              </a:rPr>
              <a:t>発話速度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310128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9600"/>
                </a:solidFill>
                <a:latin typeface="Meiryo"/>
              </a:rPr>
              <a:t>310 字/分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92608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3035808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Meiryo"/>
              </a:rPr>
              <a:t>キャッチボール度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310128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F4444"/>
                </a:solidFill>
                <a:latin typeface="Meiryo"/>
              </a:rPr>
              <a:t>74 %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206240"/>
            <a:ext cx="110642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325112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Meiryo"/>
              </a:rPr>
              <a:t>② 個別の面談を開くと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4745736"/>
            <a:ext cx="91440" cy="256032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709160"/>
            <a:ext cx="27432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📊 トーク傾向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709160"/>
            <a:ext cx="749807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発話比率／質問の質／言い切り度／相槌／口癖／前半・中盤・後半の推移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129784"/>
            <a:ext cx="91440" cy="256032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093208"/>
            <a:ext cx="27432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💬 フィードバック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093208"/>
            <a:ext cx="749807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誰でも入力可。「深掘りが浅い」等の定型文をワンタップで追加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5513832"/>
            <a:ext cx="91440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5477256"/>
            <a:ext cx="27432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📋 候補者情報を整形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5477256"/>
            <a:ext cx="749807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議事録を初回診断の5項目に整形（LARK提出形式・任意）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5897880"/>
            <a:ext cx="9144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861304"/>
            <a:ext cx="27432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📝 議事録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5861304"/>
            <a:ext cx="749807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全文を確認。傾向の該当箇所をクリックすると本文にジャンプ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WHAT YOU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具体的に何が見えるようになったか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8872" cy="758952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53896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誰がどれだけ話したか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7178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発話比率（担当◯% / 相手◯%）。「話しすぎ」「聞けている」が数字で分かる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1106424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8872" cy="7589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76856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質問の量と質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86000"/>
            <a:ext cx="7178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質問回数に加え、オープン質問（なぜ・どんな）とクローズド質問の内訳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118872" cy="758952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9815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会話のリズム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108960"/>
            <a:ext cx="7178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話者交代の頻度、相槌の割合、一番長く話した場面の長さと中身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1106424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118872" cy="7589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22776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面談内の主導権の移り変わり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31920"/>
            <a:ext cx="7178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前半・中盤・後半の発話比率。「前半は聞き、後半に提案」等の流れ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1106424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118872" cy="7589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45736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言い切り度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7178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断定表現と曖昧表現（〜かも／〜と思います）の比率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86400"/>
            <a:ext cx="1106424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118872" cy="7589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68696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口癖・頻出ワード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577840"/>
            <a:ext cx="7178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「なんか」「まあ」等の回数と、よく使う語彙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355080"/>
            <a:ext cx="11064240" cy="658368"/>
          </a:xfrm>
          <a:prstGeom prst="roundRect">
            <a:avLst/>
          </a:prstGeom>
          <a:solidFill>
            <a:srgbClr val="EA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428232"/>
            <a:ext cx="105156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いずれも計算で求めた事実です。AIの判断は入らないため、</a:t>
            </a:r>
            <a:r>
              <a:rPr sz="1200" b="1">
                <a:solidFill>
                  <a:srgbClr val="1CB0F6"/>
                </a:solidFill>
                <a:latin typeface="Meiryo"/>
              </a:rPr>
              <a:t>何度見ても同じ結果</a:t>
            </a:r>
            <a:r>
              <a:rPr sz="1200" b="0">
                <a:solidFill>
                  <a:srgbClr val="2B2F36"/>
                </a:solidFill>
                <a:latin typeface="Meiryo"/>
              </a:rPr>
              <a:t>になります。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このシステムが生む効果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28016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566928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5669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361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B2F36"/>
                </a:solidFill>
                <a:latin typeface="Meiryo"/>
              </a:rPr>
              <a:t>振り返りが「主観」から「事実」に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47672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点数の妥当性を議論する必要がなくなり、「今回は自分が7割話していた」という事実から会話が始まります。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128016" cy="109728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816352"/>
            <a:ext cx="566928" cy="5669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71215"/>
            <a:ext cx="5669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72491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B2F36"/>
                </a:solidFill>
                <a:latin typeface="Meiryo"/>
              </a:rPr>
              <a:t>指摘が届きやすくなる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136391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誰でも他メンバーの面談にコメントできるため、指導がリーダー1人に集中しません。定型文ボタンで入力の手間も最小化。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49039"/>
            <a:ext cx="128016" cy="109728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005072"/>
            <a:ext cx="566928" cy="5669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59935"/>
            <a:ext cx="5669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13631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B2F36"/>
                </a:solidFill>
                <a:latin typeface="Meiryo"/>
              </a:rPr>
              <a:t>育成の型が共有される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25112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「良い面談」の傾向（発話比率・質問の質）がチームで可視化され、目指す状態を数字で共有できます。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59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37759"/>
            <a:ext cx="128016" cy="10972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5193792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48655"/>
            <a:ext cx="56692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02351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B2F36"/>
                </a:solidFill>
                <a:latin typeface="Meiryo"/>
              </a:rPr>
              <a:t>データが蓄積し比較できる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513831"/>
            <a:ext cx="9692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CSV出力により、担当者間の比較や、同じ人の時系列変化（成長の推移）を分析できます。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172199"/>
            <a:ext cx="1106424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254495"/>
            <a:ext cx="105156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9600"/>
                </a:solidFill>
                <a:latin typeface="Meiryo"/>
              </a:rPr>
              <a:t>※ </a:t>
            </a:r>
            <a:r>
              <a:rPr sz="1100" b="0">
                <a:solidFill>
                  <a:srgbClr val="2B2F36"/>
                </a:solidFill>
                <a:latin typeface="Meiryo"/>
              </a:rPr>
              <a:t>効果は運用を通じて検証していく前提です。まずは「傾向が見える状態」を作り、現場で使いながら指標の見方を調整していきます。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日々の使い方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0574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057400" cy="109728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148840"/>
            <a:ext cx="502920" cy="502920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502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1783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面談を実施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08960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Google Meet で面談し、
文字起こしを保存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606040"/>
            <a:ext cx="320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5B1"/>
                </a:solidFill>
                <a:latin typeface="Meiry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920240"/>
            <a:ext cx="20574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920240"/>
            <a:ext cx="20574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2148840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194560"/>
            <a:ext cx="502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2761488"/>
            <a:ext cx="1783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自動で取り込み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108960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Driveに入った議事録を
システムが自動取得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606040"/>
            <a:ext cx="320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5B1"/>
                </a:solidFill>
                <a:latin typeface="Meiry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920240"/>
            <a:ext cx="20574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1920240"/>
            <a:ext cx="2057400" cy="109728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52159" y="2148840"/>
            <a:ext cx="502920" cy="502920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59" y="2194560"/>
            <a:ext cx="502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761488"/>
            <a:ext cx="1783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傾向を確認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3108960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タブを開くだけ。
計算済みの傾向が表示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2606040"/>
            <a:ext cx="320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5B1"/>
                </a:solidFill>
                <a:latin typeface="Meiryo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1920240"/>
            <a:ext cx="20574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1920240"/>
            <a:ext cx="205740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214884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194560"/>
            <a:ext cx="502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2761488"/>
            <a:ext cx="1783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コメントする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3108960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気づいた点を入力。
定型文ボタンも利用可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2606040"/>
            <a:ext cx="320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5B1"/>
                </a:solidFill>
                <a:latin typeface="Meiryo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1920240"/>
            <a:ext cx="2057400" cy="18288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46920" y="1920240"/>
            <a:ext cx="2057400" cy="1097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24160" y="2148840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2194560"/>
            <a:ext cx="502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61488"/>
            <a:ext cx="1783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CSVで振り返り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3108960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月次でデータを出力し
変化を確認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114800"/>
            <a:ext cx="11064240" cy="1828800"/>
          </a:xfrm>
          <a:prstGeom prst="roundRect">
            <a:avLst/>
          </a:prstGeom>
          <a:solidFill>
            <a:srgbClr val="EA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B0F6"/>
                </a:solidFill>
                <a:latin typeface="Meiryo"/>
              </a:rPr>
              <a:t>運用のポイント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773168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52144" y="4672584"/>
            <a:ext cx="10168128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日常の操作は「開いて見る」「コメントする」の2つだけ。</a:t>
            </a:r>
            <a:r>
              <a:rPr sz="1200" b="0">
                <a:solidFill>
                  <a:srgbClr val="6B7280"/>
                </a:solidFill>
                <a:latin typeface="Meiryo"/>
              </a:rPr>
              <a:t>事前の準備や設定は不要です。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175504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52144" y="5074920"/>
            <a:ext cx="10168128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新しい面談が入るとLarkに1回だけ通知が届きます。</a:t>
            </a:r>
            <a:r>
              <a:rPr sz="1200" b="0">
                <a:solidFill>
                  <a:srgbClr val="6B7280"/>
                </a:solidFill>
                <a:latin typeface="Meiryo"/>
              </a:rPr>
              <a:t>（再確認しても通知は飛びません）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577840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52144" y="5477256"/>
            <a:ext cx="10168128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議事録は Google Meet の自動文字起こし形式が最も精度よく分析できます。</a:t>
            </a:r>
            <a:r>
              <a:rPr sz="1200" b="0">
                <a:solidFill>
                  <a:srgbClr val="6B7280"/>
                </a:solidFill>
                <a:latin typeface="Meiryo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eiryo"/>
              </a:rPr>
              <a:t>AIに点数をつけさせるのをやめ、</a:t>
            </a:r>
            <a:r>
              <a:rPr sz="1500" b="1">
                <a:solidFill>
                  <a:srgbClr val="1CB0F6"/>
                </a:solidFill>
                <a:latin typeface="Meiryo"/>
              </a:rPr>
              <a:t>「話し方の事実」を見える化</a:t>
            </a:r>
            <a:r>
              <a:rPr sz="1500" b="0">
                <a:solidFill>
                  <a:srgbClr val="FFFFFF"/>
                </a:solidFill>
                <a:latin typeface="Meiryo"/>
              </a:rPr>
              <a:t>しました。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5B1"/>
                </a:solidFill>
                <a:latin typeface="Meiryo"/>
              </a:rPr>
              <a:t>評価は人が行い、システムは判断材料を素早く正確に提示する役割に徹します。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5440680" cy="30175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440680" cy="530352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eiryo"/>
              </a:rPr>
              <a:t>変わったこと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675888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575304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階級型UI → 全員共通のフラットな1画面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4105656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005072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自分の面談のみ → 誰の面談でも閲覧可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4535424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434840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12種類以上の情報 → 傾向とコメントの2つ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4965192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864608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リーダーのみFB → 誰でもFB入力可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" y="5394960"/>
            <a:ext cx="100584" cy="1005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5294376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採点待ち数十秒 → 待ち時間なし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926080"/>
            <a:ext cx="5440680" cy="30175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2926080"/>
            <a:ext cx="5440680" cy="53035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eiryo"/>
              </a:rPr>
              <a:t>変わらないこと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675888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4264" y="3575304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議事録のDrive自動取り込み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105656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4005072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Larkへの通知（初回のみ）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535424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4434840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候補者情報の5項目整形（任意）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965192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4" y="4864608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議事録の全文確認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5394960"/>
            <a:ext cx="100584" cy="1005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84264" y="5294376"/>
            <a:ext cx="4681728" cy="4297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データはこれまで通り蓄積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