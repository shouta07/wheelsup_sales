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接客スキル AI 採点・ロープレ事業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CB0F6"/>
                </a:solidFill>
                <a:latin typeface="Meiryo"/>
              </a:rPr>
              <a:t>— 面談採点AI(wheelsUp)のエンジンを現場接客の育成へ転用する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バイタリティデザイン合同会社 向け 事業提案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5B1"/>
                </a:solidFill>
                <a:latin typeface="Meiryo"/>
              </a:rPr>
              <a:t>2026.06.27  /  ベース実装: wheelsUp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結論：接客採点は転用可、ロープレは新規開発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11064240" cy="16002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48640"/>
            <a:ext cx="128016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71323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2F36"/>
                </a:solidFill>
                <a:latin typeface="Meiryo"/>
              </a:rPr>
              <a:t>仮説は市場で実証され始めている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07007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eiryo"/>
              </a:rPr>
              <a:t>IDOM・プリモGHD・フロンティアが2025〜26年にAI接客ロープレを導入。早期戦力化・指導負担減で成果（日経 2026/6/25）。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11064240" cy="16002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28016" cy="160020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2F36"/>
                </a:solidFill>
                <a:latin typeface="Meiryo"/>
              </a:rPr>
              <a:t>既存エンジンがそのまま効く（フェーズ1）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7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eiryo"/>
              </a:rPr>
              <a:t>「発話→観察抽出→ルーブリック採点→お手本比較」の構造は業界非依存。接客の実データ採点は業界差し替えでほぼ実現可能。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064240" cy="16002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28016" cy="160020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2F36"/>
                </a:solidFill>
                <a:latin typeface="Meiryo"/>
              </a:rPr>
              <a:t>AI客役ロープレは新規開発（フェーズ2）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eiryo"/>
              </a:rPr>
              <a:t>リアルタイム会話・音声/表情解析・常駐基盤が必要。今のVercel(60秒制限)では不可。別プロジェクトとして設計。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64240" cy="16002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97880"/>
            <a:ext cx="128016" cy="1600200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06247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B2F36"/>
                </a:solidFill>
                <a:latin typeface="Meiryo"/>
              </a:rPr>
              <a:t>推奨：小さく早く実証する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556248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eiryo"/>
              </a:rPr>
              <a:t>フェーズ1(接客採点PoC)を『1業界・1チェックリスト・1お手本』の別アプリで立ち上げ、市場の追い風を捉える。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市場背景：AI接客ロープレ導入が進む（日経 2026/6/25）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企業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475488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44752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AI活用の内容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56616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44752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27432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9144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38528"/>
            <a:ext cx="24688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IDOM（ガリバー）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38528"/>
            <a:ext cx="44805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新卒営業の接客ロープレ。話す速さ・声色・表情・必須ワード漏れをAIが審査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38528"/>
            <a:ext cx="32918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25年入社が前年の利益水準を3ヶ月早く達成／店長の負担減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4096"/>
            <a:ext cx="27432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54096"/>
            <a:ext cx="91440" cy="118872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054096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054096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63824"/>
            <a:ext cx="24688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プリモGHD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163824"/>
            <a:ext cx="44805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画面上のAI顧客に指輪を売る接客ロープレ。自社商品・店舗運用に基づき開発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63824"/>
            <a:ext cx="32918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接客の高レベル平準化＋指導役の負担軽減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79392"/>
            <a:ext cx="2743200" cy="11887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279392"/>
            <a:ext cx="91440" cy="118872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279392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279392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89120"/>
            <a:ext cx="24688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フロンティア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89120"/>
            <a:ext cx="448056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テレアポ新人研修。30顧客像×シナリオ。約30項目を5段階評価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89120"/>
            <a:ext cx="32918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営業人員を現場に残したまま新人を早期戦力化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50407"/>
            <a:ext cx="11064240" cy="777240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59"/>
            <a:ext cx="106984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勝ちパターン：</a:t>
            </a:r>
            <a:r>
              <a:rPr sz="1300" b="0">
                <a:solidFill>
                  <a:srgbClr val="2B2F36"/>
                </a:solidFill>
                <a:latin typeface="Meiryo"/>
              </a:rPr>
              <a:t>①採点基準が具体的（必須ワード/チェックリスト） ②全店で標準化 ③指導側の負担減 ④KPI早期達成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CORE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既存システム(wheelsUp)の中核は業界非依存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eiryo"/>
              </a:rPr>
              <a:t>発話データを採点する汎用エンジン。4ステップは接客にもそのまま適用できる。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51760" cy="1371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51760" cy="109728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① 観察抽出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発話から観察可能な行動を引用付きで抽出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24028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51760" cy="1371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517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05740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② ルーブリック採点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1460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各項目の達成条件を満たしたかで点数化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24028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1828800"/>
            <a:ext cx="2651760" cy="1371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1828800"/>
            <a:ext cx="2651760" cy="109728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05740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③ お手本比較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51460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トップ人材の基準・実データと対比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1" y="224028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828800"/>
            <a:ext cx="2651760" cy="1371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828800"/>
            <a:ext cx="2651760" cy="10972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05740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④ 構造化整形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51460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必須項目の充足/欠落を可視化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eiryo"/>
              </a:rPr>
              <a:t>接客への置き換え（そのまま転用）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5394960" cy="42062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95928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wheelsUp（転職面談）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3949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995928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接客版（バイタリティデザイン）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52544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352544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074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議事録 / 文字起こし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074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接客の録音・文字起こし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09744"/>
            <a:ext cx="539496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809744"/>
            <a:ext cx="539496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646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5軸（ニーズ/提案/信頼/前進/情報）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646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接客チェックリスト（挨拶/ヒアリング/提案/CL/必須ワード）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66944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266944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218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トップ人材(小林)のお手本データ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3218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トップ販売員の接客データ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539496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724144"/>
            <a:ext cx="539496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7790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eiryo"/>
              </a:rPr>
              <a:t>01診断「確認できず」検出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779007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必須ワード・確認事項の漏れ検出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そのまま使える資産 / 作り替えが要る部分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4937760"/>
          </a:xfrm>
          <a:prstGeom prst="round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✅ そのまま使える（フェーズ1で即活用）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0428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203704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ルーブリック/チェックリスト採点エンジン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4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734056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観察抽出＋引用照合（捏造引用を弾く）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64992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264408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お手本（トップ人材）との比較採点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9534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794759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構造化整形（必須項目の充足/欠落の可視化）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42569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325112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話者分離（スタッフ vs 客 の分離）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95604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855464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軸別フィードバック＋学習ライブラリ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48640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5385816"/>
            <a:ext cx="4663440" cy="5303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採点モデル(ルーブリック)の現場可視化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325880"/>
            <a:ext cx="5303520" cy="4937760"/>
          </a:xfrm>
          <a:prstGeom prst="roundRect">
            <a:avLst/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1325880"/>
            <a:ext cx="5303520" cy="640080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46304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⚠️ 作り替え/追加が必要（フェーズ2）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304288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2" y="2203704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リアルタイムAI客役（会話するロープレ相手）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871216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2770632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音声解析（話す速さ・声色・間・抑揚）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38144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3337560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表情/映像解析（IDOMが審査）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005072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3904488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30項目×5段階の細粒度チェックリスト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4572000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5432" y="4471416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業界テンプレートの切り替え機構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5138928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5038344"/>
            <a:ext cx="448056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ストリーミング/常駐の実行基盤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プロダクト2段階構想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2240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46304" cy="224028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CB0F6"/>
                </a:solidFill>
                <a:latin typeface="Meiryo"/>
              </a:rPr>
              <a:t>フェーズ1：接客「実データ採点」</a:t>
            </a:r>
            <a:r>
              <a:rPr sz="1300" b="0">
                <a:solidFill>
                  <a:srgbClr val="6B7280"/>
                </a:solidFill>
                <a:latin typeface="Meiryo"/>
              </a:rPr>
              <a:t>  — 短期・既存資産で勝てる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実際の接客（録音/文字起こし）をチェックリストで採点しフィードバック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786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478024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接客チェックリスト定義（必須ワード・接客フロー・NG行動）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62656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862072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トップ販売員の接客を『お手本データ』に登録（小林ポジション）／既存コードの業界差し替えで最短実装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CB0F6"/>
                </a:solidFill>
                <a:latin typeface="Meiryo"/>
              </a:rPr>
              <a:t>価値：</a:t>
            </a:r>
            <a:r>
              <a:rPr sz="1250" b="0">
                <a:solidFill>
                  <a:srgbClr val="6B7280"/>
                </a:solidFill>
                <a:latin typeface="Meiryo"/>
              </a:rPr>
              <a:t>全店の接客品質の見える化・標準化、店長/トレーナーの採点負担減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11064240" cy="23774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146304" cy="237744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9600"/>
                </a:solidFill>
                <a:latin typeface="Meiryo"/>
              </a:rPr>
              <a:t>フェーズ2：AI客役「リアルタイムロープレ」</a:t>
            </a:r>
            <a:r>
              <a:rPr sz="1300" b="0">
                <a:solidFill>
                  <a:srgbClr val="6B7280"/>
                </a:solidFill>
                <a:latin typeface="Meiryo"/>
              </a:rPr>
              <a:t>  — 中期・本命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AIが客として応答し、スタッフが練習。終了後に採点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01768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901184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会話するAI客（ペルソナ×シナリオ／フロンティアの30顧客像が参考）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85816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285232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リアルタイム音声対話（speed/tone/間の解析）＋ 終了後に30項目×5段階で採点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769864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5669280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6"/>
                </a:solidFill>
                <a:latin typeface="Meiryo"/>
              </a:rPr>
              <a:t>新規アーキテクチャ（ストリーミングLLM＋音声＋リアルタイム採点）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521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9600"/>
                </a:solidFill>
                <a:latin typeface="Meiryo"/>
              </a:rPr>
              <a:t>価値：</a:t>
            </a:r>
            <a:r>
              <a:rPr sz="1250" b="0">
                <a:solidFill>
                  <a:srgbClr val="6B7280"/>
                </a:solidFill>
                <a:latin typeface="Meiryo"/>
              </a:rPr>
              <a:t>指導者不在でも反復練習、緊張せず壁打ち、早期戦力化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実装知見：避けるべき落とし穴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1097280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Vercel Serverless(60秒)はロープレに不向き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75104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バッチ採点ですらタイムアウト多発。リアルタイム音声対話には常駐/エッジ/専用ランタイムが必要。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78608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128016" cy="109728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1アプリに全部詰めると破綻する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82112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wheelsUpは機能を足すたびに『分かりにくい』FB。接客版は『1業界・1チェックリスト・1お手本』で別アプリに切る。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85616"/>
            <a:ext cx="128016" cy="109728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採点はバックグラウンド処理にする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同期処理は規模が増えると必ずタイムアウト。キュー/Cronで回し、UIは結果表示に徹する。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92624"/>
            <a:ext cx="11064240" cy="10972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28016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3892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『印象』でなく『観察可能な行動』で採点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961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『良い接客だった』でなく『必須ワードを言った/言わない』。客観性・標準化の肝。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NEXT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eiryo"/>
              </a:rPr>
              <a:t>推奨アクション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594360" cy="59436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55064"/>
            <a:ext cx="594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63624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B2F36"/>
                </a:solidFill>
                <a:latin typeface="Meiryo"/>
              </a:rPr>
              <a:t>フェーズ1（接客採点PoC）を別アプリとして設計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8424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既存資産で最短に市場の追い風を捉える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96312"/>
            <a:ext cx="11064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679192"/>
            <a:ext cx="594360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34056"/>
            <a:ext cx="594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42616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B2F36"/>
                </a:solidFill>
                <a:latin typeface="Meiryo"/>
              </a:rPr>
              <a:t>接客チェックリストを現場と共同定義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6324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『正解がある研修』の正解を固める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75304"/>
            <a:ext cx="11064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758184"/>
            <a:ext cx="594360" cy="594360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13048"/>
            <a:ext cx="594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21608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B2F36"/>
                </a:solidFill>
                <a:latin typeface="Meiryo"/>
              </a:rPr>
              <a:t>トップ販売員の接客をお手本データ化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42232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採点基準の現場実証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4296"/>
            <a:ext cx="11064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837176"/>
            <a:ext cx="594360" cy="594360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892040"/>
            <a:ext cx="594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B2F36"/>
                </a:solidFill>
                <a:latin typeface="Meiryo"/>
              </a:rPr>
              <a:t>フェーズ2（ロープレ）の技術設計・コスト試算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21224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eiryo"/>
              </a:rPr>
              <a:t>投資判断の材料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51575"/>
            <a:ext cx="11064240" cy="65836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24727"/>
            <a:ext cx="105156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結論：今は『作る』より『どこに張るか』を決めるフェーズ。フェーズ1から小さく実証するのが最も勝率が高い。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